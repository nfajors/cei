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1"/>
  </p:notesMasterIdLst>
  <p:sldIdLst>
    <p:sldId id="256" r:id="rId2"/>
    <p:sldId id="257" r:id="rId3"/>
    <p:sldId id="262" r:id="rId4"/>
    <p:sldId id="259" r:id="rId5"/>
    <p:sldId id="260" r:id="rId6"/>
    <p:sldId id="261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31602C-3102-4813-AAC1-4F206370BFAA}" v="2" dt="2024-06-24T16:08:20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 snapToGrid="0">
      <p:cViewPr varScale="1">
        <p:scale>
          <a:sx n="77" d="100"/>
          <a:sy n="77" d="100"/>
        </p:scale>
        <p:origin x="86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70AA9-FB1C-4A62-B025-E856751D07F2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74C67-F1B8-4031-A255-205768C1D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5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 helps make better more informed decisions, compare to industries, predict income.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474C67-F1B8-4031-A255-205768C1DCD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2367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93537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3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556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9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17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96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87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35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2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35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3/3/2025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68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43B49-6C47-4403-2E8A-0DB4C6C48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3900" y="1079500"/>
            <a:ext cx="6119131" cy="2138400"/>
          </a:xfrm>
        </p:spPr>
        <p:txBody>
          <a:bodyPr>
            <a:normAutofit/>
          </a:bodyPr>
          <a:lstStyle/>
          <a:p>
            <a:r>
              <a:rPr lang="en-US" dirty="0"/>
              <a:t>Accounting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9A0F3-B7B8-A28F-4C72-91EAAAD68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779" y="4113213"/>
            <a:ext cx="6125372" cy="1655762"/>
          </a:xfrm>
        </p:spPr>
        <p:txBody>
          <a:bodyPr>
            <a:normAutofit/>
          </a:bodyPr>
          <a:lstStyle/>
          <a:p>
            <a:r>
              <a:rPr lang="en-US" dirty="0"/>
              <a:t>Sophia Rivera, </a:t>
            </a:r>
            <a:r>
              <a:rPr lang="en-US" dirty="0" err="1"/>
              <a:t>MAcc</a:t>
            </a:r>
            <a:r>
              <a:rPr lang="en-US" dirty="0"/>
              <a:t>, MBA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69FDBE-99D7-02BD-9421-EDC5CDD834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089" r="24598" b="-1"/>
          <a:stretch/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73465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5493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DEB7B-EDBB-1B56-F785-4BD004198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DE165-62AB-B830-F4B1-F2582E4E8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800" b="1" dirty="0"/>
              <a:t>Expense: </a:t>
            </a:r>
            <a:r>
              <a:rPr lang="en-US" dirty="0"/>
              <a:t>Any money spent (E)</a:t>
            </a:r>
          </a:p>
          <a:p>
            <a:pPr lvl="1"/>
            <a:r>
              <a:rPr lang="en-US" dirty="0"/>
              <a:t>	Variable v. Fixed</a:t>
            </a:r>
          </a:p>
          <a:p>
            <a:r>
              <a:rPr lang="en-US" sz="2800" b="1" dirty="0"/>
              <a:t>Revenue: </a:t>
            </a:r>
            <a:r>
              <a:rPr lang="en-US" dirty="0"/>
              <a:t>Any money that comes in (R)</a:t>
            </a:r>
          </a:p>
          <a:p>
            <a:endParaRPr lang="en-US" dirty="0"/>
          </a:p>
          <a:p>
            <a:r>
              <a:rPr lang="en-US" sz="2800" b="1" dirty="0"/>
              <a:t>Profit: </a:t>
            </a:r>
            <a:r>
              <a:rPr lang="en-US" dirty="0"/>
              <a:t>Revenues minus Expenses (R – E)</a:t>
            </a:r>
          </a:p>
          <a:p>
            <a:endParaRPr lang="en-US" dirty="0"/>
          </a:p>
          <a:p>
            <a:r>
              <a:rPr lang="en-US" sz="2800" b="1" dirty="0"/>
              <a:t>Profit Margin: </a:t>
            </a:r>
            <a:r>
              <a:rPr lang="en-US" dirty="0"/>
              <a:t>Profit divided by Revenue (P/R)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3100" b="1" dirty="0"/>
              <a:t>Break Even Point: </a:t>
            </a:r>
            <a:r>
              <a:rPr lang="en-US" sz="2100" dirty="0"/>
              <a:t>Where expenses equal revenue (E=R)</a:t>
            </a: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3695481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CF88-593B-056F-DBF8-6A8C7674E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even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19375-492F-E242-2A02-4258F9FDE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help set sales goals/targets</a:t>
            </a:r>
          </a:p>
          <a:p>
            <a:r>
              <a:rPr lang="en-US" dirty="0"/>
              <a:t>Analyzing effects of changes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NOTE</a:t>
            </a:r>
          </a:p>
          <a:p>
            <a:pPr lvl="1"/>
            <a:r>
              <a:rPr lang="en-US" dirty="0"/>
              <a:t>	Fixed costs: expenses essential to your business that will NOT change with scale.</a:t>
            </a:r>
          </a:p>
          <a:p>
            <a:pPr lvl="1"/>
            <a:r>
              <a:rPr lang="en-US" dirty="0"/>
              <a:t>	Variable costs: expenses that change based on volume.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819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AB231-BC73-101A-E551-437D62BFB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133F3-0DE5-CD09-700C-D09AA577E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You run a subscription-based news site. Your expenses are as follows:</a:t>
            </a:r>
          </a:p>
          <a:p>
            <a:pPr lvl="1"/>
            <a:r>
              <a:rPr lang="en-US" sz="2400" dirty="0"/>
              <a:t>	$10 monthly to host your website on WordPress</a:t>
            </a:r>
          </a:p>
          <a:p>
            <a:pPr lvl="1"/>
            <a:r>
              <a:rPr lang="en-US" sz="2400" dirty="0"/>
              <a:t>	$50 monthly for your internet</a:t>
            </a:r>
          </a:p>
          <a:p>
            <a:pPr lvl="1"/>
            <a:r>
              <a:rPr lang="en-US" sz="2400" dirty="0"/>
              <a:t>	$2 per customer for customer acquisition</a:t>
            </a:r>
          </a:p>
          <a:p>
            <a:pPr lvl="1"/>
            <a:r>
              <a:rPr lang="en-US" sz="2400" dirty="0"/>
              <a:t>	$120 yearly for marketing</a:t>
            </a:r>
          </a:p>
          <a:p>
            <a:pPr lvl="1"/>
            <a:r>
              <a:rPr lang="en-US" sz="2400" dirty="0"/>
              <a:t>And</a:t>
            </a:r>
          </a:p>
          <a:p>
            <a:pPr lvl="1"/>
            <a:r>
              <a:rPr lang="en-US" sz="2400" dirty="0"/>
              <a:t>	$50 per article written	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5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AB231-BC73-101A-E551-437D62BFB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133F3-0DE5-CD09-700C-D09AA577E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B2E250-24EC-D933-22F0-37801B614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39" y="1971600"/>
            <a:ext cx="9836772" cy="379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49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AB231-BC73-101A-E551-437D62BFB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133F3-0DE5-CD09-700C-D09AA577E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48066B-0A56-EA2F-1663-73C85E72B8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469"/>
          <a:stretch/>
        </p:blipFill>
        <p:spPr>
          <a:xfrm>
            <a:off x="1419270" y="1790700"/>
            <a:ext cx="9353459" cy="431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72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AB231-BC73-101A-E551-437D62BFB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133F3-0DE5-CD09-700C-D09AA577E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780B3D-6C22-03F9-2022-6D8ABBC36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705" y="1790700"/>
            <a:ext cx="9504240" cy="415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837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F42C6-AEF2-F9DF-200E-B56B2B389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3A23C-6901-D2D5-4E12-CDC91D6CB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Cash flow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BC3D3-B64B-0345-827E-63D571EAA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CFO: Cash Flow from Operating activities</a:t>
            </a:r>
          </a:p>
          <a:p>
            <a:pPr lvl="1"/>
            <a:r>
              <a:rPr lang="en-US" sz="3200" b="1" dirty="0"/>
              <a:t>- Cash, AR/AP, Taxes etc.</a:t>
            </a:r>
          </a:p>
          <a:p>
            <a:r>
              <a:rPr lang="en-US" dirty="0"/>
              <a:t>CFI: Cash Flow from Investing activities</a:t>
            </a:r>
          </a:p>
          <a:p>
            <a:pPr lvl="1"/>
            <a:r>
              <a:rPr lang="en-US" dirty="0"/>
              <a:t>- PPE, Land, Securities</a:t>
            </a:r>
          </a:p>
          <a:p>
            <a:r>
              <a:rPr lang="en-US" dirty="0"/>
              <a:t>CFF: Cash Flow from Financing activities</a:t>
            </a:r>
          </a:p>
          <a:p>
            <a:pPr lvl="1"/>
            <a:r>
              <a:rPr lang="en-US" dirty="0"/>
              <a:t>- Loans, Long Term Debt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584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A7919-AEDC-5781-7540-84D2AA199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9F099-CCF6-91CA-0947-1B7669FDE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97290-2492-84B1-AA13-FFB9AA6E9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You participate in EA. You build and sell trinkets using a 3D printer.</a:t>
            </a:r>
          </a:p>
          <a:p>
            <a:pPr marL="0" indent="0">
              <a:buNone/>
            </a:pPr>
            <a:r>
              <a:rPr lang="en-US" sz="2400" dirty="0"/>
              <a:t>Expenses are:</a:t>
            </a:r>
          </a:p>
          <a:p>
            <a:pPr lvl="1"/>
            <a:r>
              <a:rPr lang="en-US" sz="2400" dirty="0"/>
              <a:t>	$50 monthly for your internet</a:t>
            </a:r>
          </a:p>
          <a:p>
            <a:pPr lvl="1"/>
            <a:r>
              <a:rPr lang="en-US" sz="2400" dirty="0"/>
              <a:t>	$800 one-time to buy a 3D printer</a:t>
            </a:r>
          </a:p>
          <a:p>
            <a:pPr lvl="1"/>
            <a:r>
              <a:rPr lang="en-US" sz="2400" dirty="0"/>
              <a:t>	$120 monthly co-working space rental</a:t>
            </a:r>
          </a:p>
          <a:p>
            <a:pPr lvl="1"/>
            <a:r>
              <a:rPr lang="en-US" sz="2400" dirty="0"/>
              <a:t>	$1 per unit</a:t>
            </a:r>
          </a:p>
          <a:p>
            <a:pPr lvl="1"/>
            <a:r>
              <a:rPr lang="en-US" sz="2400" dirty="0"/>
              <a:t>Revenue: </a:t>
            </a:r>
            <a:br>
              <a:rPr lang="en-US" sz="2400" dirty="0"/>
            </a:br>
            <a:r>
              <a:rPr lang="en-US" sz="2400" dirty="0"/>
              <a:t>	$10 per unit</a:t>
            </a:r>
            <a:br>
              <a:rPr lang="en-US" sz="2400" dirty="0"/>
            </a:br>
            <a:endParaRPr lang="en-US" sz="2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254410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AnalogousFromLightSeedRightStep">
      <a:dk1>
        <a:srgbClr val="000000"/>
      </a:dk1>
      <a:lt1>
        <a:srgbClr val="FFFFFF"/>
      </a:lt1>
      <a:dk2>
        <a:srgbClr val="242D41"/>
      </a:dk2>
      <a:lt2>
        <a:srgbClr val="E8E2E8"/>
      </a:lt2>
      <a:accent1>
        <a:srgbClr val="2CB832"/>
      </a:accent1>
      <a:accent2>
        <a:srgbClr val="31B86F"/>
      </a:accent2>
      <a:accent3>
        <a:srgbClr val="36B1A2"/>
      </a:accent3>
      <a:accent4>
        <a:srgbClr val="23ADE6"/>
      </a:accent4>
      <a:accent5>
        <a:srgbClr val="6E93EE"/>
      </a:accent5>
      <a:accent6>
        <a:srgbClr val="624EEB"/>
      </a:accent6>
      <a:hlink>
        <a:srgbClr val="AE69AB"/>
      </a:hlink>
      <a:folHlink>
        <a:srgbClr val="7F7F7F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283</Words>
  <Application>Microsoft Office PowerPoint</Application>
  <PresentationFormat>Widescreen</PresentationFormat>
  <Paragraphs>49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Avenir Next LT Pro Light</vt:lpstr>
      <vt:lpstr>Rockwell Nova Light</vt:lpstr>
      <vt:lpstr>Wingdings</vt:lpstr>
      <vt:lpstr>LeafVTI</vt:lpstr>
      <vt:lpstr>Accounting Basics</vt:lpstr>
      <vt:lpstr>Definitions</vt:lpstr>
      <vt:lpstr>Break even analysis</vt:lpstr>
      <vt:lpstr>Example</vt:lpstr>
      <vt:lpstr>Example</vt:lpstr>
      <vt:lpstr>Example</vt:lpstr>
      <vt:lpstr>Example</vt:lpstr>
      <vt:lpstr>Cash flow analysis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Accounting Basics</dc:title>
  <dc:creator>Rivera Hassemer, Sophia</dc:creator>
  <cp:lastModifiedBy>Rivera Hassemer, Sophia</cp:lastModifiedBy>
  <cp:revision>3</cp:revision>
  <dcterms:created xsi:type="dcterms:W3CDTF">2024-06-20T18:24:51Z</dcterms:created>
  <dcterms:modified xsi:type="dcterms:W3CDTF">2025-03-04T01:37:42Z</dcterms:modified>
</cp:coreProperties>
</file>